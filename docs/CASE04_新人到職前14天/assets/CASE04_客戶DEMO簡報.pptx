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開場一句：三位新人、同一套訓練、三種訊號。先問客戶：如果是您，下一班會怎麼帶？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停在這頁問客戶：這三個訊號，您會怎麼分？多數主管會說「先觀察看看」。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這頁只用來建立「問題值得處理」，不要暗示我們能改善這些數字。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現場演示重點：把這一句實際貼進 Traitty AI，讓客戶看到它不是行銷話術。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如果客戶問「這樣會不會太麻煩」，回：這三件事主管本來就知道，只是沒寫下來。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這一頁是與一般生成式 AI 的差異點：可檢查、可反駁、標明資料不足。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客戶最常在這頁點頭——因為多數 AI 工具不會主動說自己不做什麼。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14、21 用同一份週更新模板即可，不必每次都在 DEMO 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現場如果時間夠，就在這頁停下來讓客戶讀那三句問話——那是主管當天就能用的東西。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一份每個人都持續進步的紀錄，不會有人相信——這點主動說出來反而加分。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這是整場 DEMO 的高潮。讓客戶自己讀完三行再說話。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客戶如果問「能不能證明降低離職率」，就用這一頁回答，不要含糊帶過。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時間只有 5 分鐘時：砍掉 1–2 分與 6–8 分兩段，保留操作與收斂。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收尾不要加碼承諾成效，直接把試點的四個追蹤指標講清楚。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6A4A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114300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TRAITTY AI ／ CASE 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00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新人到職前 14 天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29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Traitty AI 如何協助主管及早發現適應問題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429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6B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三位新人接受相同的基礎訓練，卻出現三種完全不同的訊號。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6B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主管用三次提問，把「說不上來的感覺」變成可以問、可以做、可以追蹤的管理依據。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2E2313"/>
          </a:solidFill>
          <a:ln w="12700">
            <a:solidFill>
              <a:srgbClr val="9C621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A0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情境模擬案例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5989320"/>
            <a:ext cx="10872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連鎖餐飲門市前場｜Day 3 → Day 14｜Traitty AI 使用 3 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同一套訓練，三個都像「適應不良」的訊號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Victoria 是連鎖餐飲門市責任主管，同時帶三位到職第 3 天的新人。沒有人說想離職。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347167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295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Roger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5EEF0"/>
          </a:solidFill>
          <a:ln w="12700">
            <a:solidFill>
              <a:srgbClr val="E5EE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2608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5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現場事實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10128"/>
            <a:ext cx="2959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兩次問能不能跳過重複練習。動作快，但有 2 次點餐輸入需資深同仁更正。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462272"/>
            <a:ext cx="2959608" cy="0"/>
          </a:xfrm>
          <a:prstGeom prst="line">
            <a:avLst/>
          </a:prstGeom>
          <a:noFill/>
          <a:ln w="12700">
            <a:solidFill>
              <a:srgbClr val="DED6D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914400" y="4553712"/>
            <a:ext cx="2959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主管當下的印象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0600"/>
            <a:ext cx="295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「太急了，所以容易出錯」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8640" y="2286000"/>
            <a:ext cx="347167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14672" y="2487168"/>
            <a:ext cx="295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Eddy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14672" y="2926080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5EEF0"/>
          </a:solidFill>
          <a:ln w="12700">
            <a:solidFill>
              <a:srgbClr val="E5EE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4672" y="292608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5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現場事實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14672" y="3310128"/>
            <a:ext cx="2959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每次被問都說「都還好」。尖峰幾乎不主動提問，一次交接沒說完整。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4672" y="4462272"/>
            <a:ext cx="2959608" cy="0"/>
          </a:xfrm>
          <a:prstGeom prst="line">
            <a:avLst/>
          </a:prstGeom>
          <a:noFill/>
          <a:ln w="12700">
            <a:solidFill>
              <a:srgbClr val="DED6D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614672" y="4553712"/>
            <a:ext cx="2959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主管當下的印象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14672" y="4800600"/>
            <a:ext cx="295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「都說沒問題，可能不願意講」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58912" y="2286000"/>
            <a:ext cx="347167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14944" y="2487168"/>
            <a:ext cx="295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Eva H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314944" y="2926080"/>
            <a:ext cx="932688" cy="274320"/>
          </a:xfrm>
          <a:prstGeom prst="roundRect">
            <a:avLst>
              <a:gd name="adj" fmla="val 20000"/>
            </a:avLst>
          </a:prstGeom>
          <a:solidFill>
            <a:srgbClr val="E5EEF0"/>
          </a:solidFill>
          <a:ln w="12700">
            <a:solidFill>
              <a:srgbClr val="E5EE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14944" y="292608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5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現場事實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314944" y="3310128"/>
            <a:ext cx="2959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品質穩定，但連兩次收班後多留 25–30 分鐘，對獨立顧尖峰有些猶豫。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14944" y="4462272"/>
            <a:ext cx="2959608" cy="0"/>
          </a:xfrm>
          <a:prstGeom prst="line">
            <a:avLst/>
          </a:prstGeom>
          <a:noFill/>
          <a:ln w="12700">
            <a:solidFill>
              <a:srgbClr val="DED6DB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314944" y="4553712"/>
            <a:ext cx="2959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主管當下的印象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314944" y="4800600"/>
            <a:ext cx="295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「沒信心、學得比較慢」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62356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如果用同一套方法處理——一起再訓練一次、一起多鼓勵幾句——三個人的真正卡點，一個都不會被解決。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為什麼是連鎖餐飲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高流動、要求快速上手、而且主管有介入空間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3471672" cy="1783080"/>
          </a:xfrm>
          <a:prstGeom prst="roundRect">
            <a:avLst>
              <a:gd name="adj" fmla="val 5128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148840"/>
            <a:ext cx="292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944368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餐飲業進入率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255264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2025/03 勞動部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8640" y="1965960"/>
            <a:ext cx="3471672" cy="1783080"/>
          </a:xfrm>
          <a:prstGeom prst="roundRect">
            <a:avLst>
              <a:gd name="adj" fmla="val 5128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32960" y="2148840"/>
            <a:ext cx="292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632960" y="2944368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餐飲業退出率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32960" y="3255264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整體服務業約 2.8%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58912" y="1965960"/>
            <a:ext cx="3471672" cy="1783080"/>
          </a:xfrm>
          <a:prstGeom prst="roundRect">
            <a:avLst>
              <a:gd name="adj" fmla="val 5128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33232" y="2148840"/>
            <a:ext cx="292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333232" y="2944368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住宿餐飲自願離職率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33232" y="3255264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美國 BLS：全產業約 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069080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F7EEE1"/>
          </a:solidFill>
          <a:ln w="12700">
            <a:solidFill>
              <a:srgbClr val="E3CFA9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0976" y="4224528"/>
            <a:ext cx="1028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6B4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注意：以上為「外部市場基準」，不是新人專屬離職率，也不是 Traitty AI 的成效。所有對外數字必須標示屬於哪一類——外部市場基準／試點成功標準／建議追蹤指標／實際量測結果，四者不可混用。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525780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官方調查明言：新進工作者多、退出者亦多、留任不易。這個場景同時具備高流動、快速上手、尖峰壓力，以及最重要的一點——現場主管有實際可介入的空間。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本案核心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主管要學的不是 AI，是把現場說清楚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64208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每次提問前貼上這一句，主管不需要記任何提問技巧。我們稱為「事實—特質—驗證模式」。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10872216" cy="1554480"/>
          </a:xfrm>
          <a:prstGeom prst="roundRect">
            <a:avLst>
              <a:gd name="adj" fmla="val 5882"/>
            </a:avLst>
          </a:prstGeom>
          <a:solidFill>
            <a:srgbClr val="271E33"/>
          </a:solidFill>
          <a:ln w="19050">
            <a:solidFill>
              <a:srgbClr val="6A4A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2395728"/>
            <a:ext cx="10140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請把我提供的現場事實、系統中的 Traitty 特質線索與你的推論分開，判斷特質和現場反應是否有相符或可能關聯，也列出其他可能原因；再提出需要驗證的行為假設、我下一步可以直接問或做的事情，以及可觀察的工作指標。資料不足請明確說明，不要把推論當成事實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005072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9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這一句幫主管一次要到六件事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4407408"/>
            <a:ext cx="329184" cy="329184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4379976"/>
            <a:ext cx="301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區分事實、特質與推論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8640" y="4407408"/>
            <a:ext cx="329184" cy="329184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5864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15840" y="4379976"/>
            <a:ext cx="301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判斷特質與現場反應的可能關聯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58912" y="4407408"/>
            <a:ext cx="329184" cy="329184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8912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16112" y="4379976"/>
            <a:ext cx="301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不只用特質解釋，也提出其他可能原因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248656"/>
            <a:ext cx="329184" cy="329184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5221224"/>
            <a:ext cx="301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推測接下來可能出現的可觀察行為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8640" y="5248656"/>
            <a:ext cx="329184" cy="329184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58640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15840" y="5221224"/>
            <a:ext cx="301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提供主管可以直接使用的行動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58912" y="5248656"/>
            <a:ext cx="329184" cy="329184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58912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16112" y="5221224"/>
            <a:ext cx="301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告訴主管要觀察什麼才能繼續驗證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提問方法 ／ 第二步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主管只需要再寫自己的三件事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不必描述任何人的性格——那是 Traitty AI 已經掌握的資料。主管代寫，只會讓 AI 重述主管自己的分析。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95728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2688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我的情境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761488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我是誰？現在發生在什麼階段？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2560320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例：我是連鎖餐飲門市的責任主管，帶三位到職第 3 天的新人。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511296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32688" y="36941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我看到的事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36758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對方說了什麼、做了什麼、發生幾次？結果如何？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3675888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例：Roger 兩次問能不能跳過練習；有 2 次輸入需資深同仁更正。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4626864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" y="48097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我想知道的事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61488" y="47914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我現在最需要判斷什麼？下一班要怎麼做？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4791456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例：我今天可以直接問他什麼？只需要先調整哪一個帶教動作？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760720"/>
            <a:ext cx="10872216" cy="658368"/>
          </a:xfrm>
          <a:prstGeom prst="roundRect">
            <a:avLst>
              <a:gd name="adj" fmla="val 13889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2688" y="5907024"/>
            <a:ext cx="10323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寫「我觀察到」的三個要訣：寫行為不寫評價　·　帶次數與情境　·　分開「自己發現」與「別人指出」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提問方法 ／ 第三步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Traitty AI 的回答固定分五層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客戶看到的不是一份性格報告，而是一條可以檢查的推論鏈。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1991563" cy="2148840"/>
          </a:xfrm>
          <a:prstGeom prst="roundRect">
            <a:avLst>
              <a:gd name="adj" fmla="val 4591"/>
            </a:avLst>
          </a:prstGeom>
          <a:solidFill>
            <a:srgbClr val="E5EEF0"/>
          </a:solidFill>
          <a:ln w="12700">
            <a:solidFill>
              <a:srgbClr val="2C5561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971800"/>
            <a:ext cx="15526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觀察事實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364992"/>
            <a:ext cx="1552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只整理主管實際提供的言語、行為與次數，不加入案例沒有的資訊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59075" y="310896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78531" y="2286000"/>
            <a:ext cx="1991563" cy="2148840"/>
          </a:xfrm>
          <a:prstGeom prst="roundRect">
            <a:avLst>
              <a:gd name="adj" fmla="val 4591"/>
            </a:avLst>
          </a:prstGeom>
          <a:solidFill>
            <a:srgbClr val="F0EAF8"/>
          </a:solidFill>
          <a:ln w="12700">
            <a:solidFill>
              <a:srgbClr val="6A4A9E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097987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097987" y="2971800"/>
            <a:ext cx="15526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特質線索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97987" y="3364992"/>
            <a:ext cx="1552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 Traitty 特質可能與這件事有關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79238" y="310896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98694" y="2286000"/>
            <a:ext cx="1991563" cy="2148840"/>
          </a:xfrm>
          <a:prstGeom prst="roundRect">
            <a:avLst>
              <a:gd name="adj" fmla="val 4591"/>
            </a:avLst>
          </a:prstGeom>
          <a:solidFill>
            <a:srgbClr val="F0EAF8"/>
          </a:solidFill>
          <a:ln w="12700">
            <a:solidFill>
              <a:srgbClr val="6A4A9E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318150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318150" y="2971800"/>
            <a:ext cx="15526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關聯判斷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18150" y="3364992"/>
            <a:ext cx="1552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是可能相關、部分相關，還是目前無法判斷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099402" y="310896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8858" y="2286000"/>
            <a:ext cx="1991563" cy="2148840"/>
          </a:xfrm>
          <a:prstGeom prst="roundRect">
            <a:avLst>
              <a:gd name="adj" fmla="val 4591"/>
            </a:avLst>
          </a:prstGeom>
          <a:solidFill>
            <a:srgbClr val="F7EEE1"/>
          </a:solidFill>
          <a:ln w="12700">
            <a:solidFill>
              <a:srgbClr val="9C6218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38314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538314" y="2971800"/>
            <a:ext cx="15526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行為假設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38314" y="3364992"/>
            <a:ext cx="1552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下一班可能出現哪些可觀察行為？還有哪些其他解釋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319565" y="310896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539021" y="2286000"/>
            <a:ext cx="1991563" cy="2148840"/>
          </a:xfrm>
          <a:prstGeom prst="roundRect">
            <a:avLst>
              <a:gd name="adj" fmla="val 4591"/>
            </a:avLst>
          </a:prstGeom>
          <a:solidFill>
            <a:srgbClr val="F7EEE1"/>
          </a:solidFill>
          <a:ln w="12700">
            <a:solidFill>
              <a:srgbClr val="9C6218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758477" y="2450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758477" y="2971800"/>
            <a:ext cx="15526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驗證與行動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58477" y="3364992"/>
            <a:ext cx="1552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要問什麼、調整什麼、記下什麼，才能進一步確認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709160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第三層一律使用四級判斷，不做二分法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" y="5074920"/>
            <a:ext cx="2615184" cy="420624"/>
          </a:xfrm>
          <a:prstGeom prst="roundRect">
            <a:avLst>
              <a:gd name="adj" fmla="val 21739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50749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有相符線索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10712" y="5074920"/>
            <a:ext cx="2615184" cy="420624"/>
          </a:xfrm>
          <a:prstGeom prst="roundRect">
            <a:avLst>
              <a:gd name="adj" fmla="val 21739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10712" y="50749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部分相符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63056" y="5074920"/>
            <a:ext cx="2615184" cy="420624"/>
          </a:xfrm>
          <a:prstGeom prst="roundRect">
            <a:avLst>
              <a:gd name="adj" fmla="val 21739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63056" y="50749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目前無法判斷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915400" y="5074920"/>
            <a:ext cx="2615184" cy="420624"/>
          </a:xfrm>
          <a:prstGeom prst="roundRect">
            <a:avLst>
              <a:gd name="adj" fmla="val 21739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15400" y="5074920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現有觀察暫不支持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57150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這是在回答「是否可能有關」，而不是宣稱特質造成了某個行為。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提問方法 ／ 第四步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四條邊界，主管要主動寫進指令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這四句話不是免責聲明，是讓輸出保持可用的前提。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52989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42032"/>
            <a:ext cx="384048" cy="384048"/>
          </a:xfrm>
          <a:prstGeom prst="ellipse">
            <a:avLst/>
          </a:prstGeom>
          <a:solidFill>
            <a:srgbClr val="F7E8E7"/>
          </a:solidFill>
          <a:ln w="12700">
            <a:solidFill>
              <a:srgbClr val="F7E8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42032"/>
            <a:ext cx="4201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不預測離職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44368"/>
            <a:ext cx="42016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特質資料不能推論離職意圖，寫進去會讓整份輸出失去可信度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401568"/>
            <a:ext cx="4750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指令寫法：「請不要預測誰會離職」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1636" y="2286000"/>
            <a:ext cx="52989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05956" y="2542032"/>
            <a:ext cx="384048" cy="384048"/>
          </a:xfrm>
          <a:prstGeom prst="ellipse">
            <a:avLst/>
          </a:prstGeom>
          <a:solidFill>
            <a:srgbClr val="F7E8E7"/>
          </a:solidFill>
          <a:ln w="12700">
            <a:solidFill>
              <a:srgbClr val="F7E8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5956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36308" y="2542032"/>
            <a:ext cx="4201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不判定適任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6308" y="2944368"/>
            <a:ext cx="42016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獨立站櫃、晉級、排班屬於公司權責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3401568"/>
            <a:ext cx="4750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指令寫法：「也不要判斷誰適不適任」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977640"/>
            <a:ext cx="52989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4233672"/>
            <a:ext cx="384048" cy="384048"/>
          </a:xfrm>
          <a:prstGeom prst="ellipse">
            <a:avLst/>
          </a:prstGeom>
          <a:solidFill>
            <a:srgbClr val="F7E8E7"/>
          </a:solidFill>
          <a:ln w="12700">
            <a:solidFill>
              <a:srgbClr val="F7E8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233672"/>
            <a:ext cx="4201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不自訂公司標準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36008"/>
            <a:ext cx="42016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若自行設定合格門檻或合理工時，主管會誤以為是公司規定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5093208"/>
            <a:ext cx="4750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指令寫法：「不要自行設定公司制度或工作標準」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1636" y="3977640"/>
            <a:ext cx="52989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05956" y="4233672"/>
            <a:ext cx="384048" cy="384048"/>
          </a:xfrm>
          <a:prstGeom prst="ellipse">
            <a:avLst/>
          </a:prstGeom>
          <a:solidFill>
            <a:srgbClr val="F7E8E7"/>
          </a:solidFill>
          <a:ln w="12700">
            <a:solidFill>
              <a:srgbClr val="F7E8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05956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36308" y="4233672"/>
            <a:ext cx="4201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不回答權責問題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36308" y="4636008"/>
            <a:ext cx="42016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主管權限、HR 權限、薪資、任用升遷不該由 AI 判定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05956" y="5093208"/>
            <a:ext cx="4750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指令寫法：「不需要判斷公司權責與 HR 權限」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5742432"/>
            <a:ext cx="10872216" cy="640080"/>
          </a:xfrm>
          <a:prstGeom prst="roundRect">
            <a:avLst>
              <a:gd name="adj" fmla="val 14286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32688" y="5888736"/>
            <a:ext cx="1032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制度備註：實際工作安排應依各企業職務權限、排班制度、人事規章及法令執行；Traitty AI 不判定主管或 HR 的正式權限。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操作節奏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三次提問，每次只決定「現在」與「下一週」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新人變化很快：不能等兩週才檢視，也不該在 Day 3 就規劃完整 14 天或 90 天。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3441192" cy="2286000"/>
          </a:xfrm>
          <a:prstGeom prst="roundRect">
            <a:avLst>
              <a:gd name="adj" fmla="val 4000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50976" y="2542032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871216"/>
            <a:ext cx="2855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即時情境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246120"/>
            <a:ext cx="2855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早期辨識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712464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三個待驗證假設、三句可直接問的話、三個帶教微調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2331720"/>
            <a:ext cx="3441192" cy="2286000"/>
          </a:xfrm>
          <a:prstGeom prst="roundRect">
            <a:avLst>
              <a:gd name="adj" fmla="val 4000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6488" y="2542032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6488" y="2871216"/>
            <a:ext cx="2855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每週更新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6488" y="3246120"/>
            <a:ext cx="2855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修正假設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66488" y="3712464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用現場紀錄檢查原本推論，保留反例與其他可能原因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9392" y="2331720"/>
            <a:ext cx="3441192" cy="2286000"/>
          </a:xfrm>
          <a:prstGeom prst="roundRect">
            <a:avLst>
              <a:gd name="adj" fmla="val 4000"/>
            </a:avLst>
          </a:prstGeom>
          <a:solidFill>
            <a:srgbClr val="F0EAF8"/>
          </a:solidFill>
          <a:ln w="12700">
            <a:solidFill>
              <a:srgbClr val="D5C9EA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82000" y="2542032"/>
            <a:ext cx="2855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2871216"/>
            <a:ext cx="2855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階段回顧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3246120"/>
            <a:ext cx="2855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評估穩定性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3712464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複合假設拆開判斷，決定哪些做法保留、減少或更換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892040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50976" y="5074920"/>
            <a:ext cx="1028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中間這幾天，主管每人每天記錄不超過 1 分鐘：兩項工作指標（要有分母）＋一項具體的進步事實＋有沒有新的例外情境。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／ Traitty AI 產出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三個人拿到三套不同的做法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27632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不是同一份建議換名字——這是與一般生成式 AI 最容易看出的差別。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075688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待驗證的行為假設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90488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一句可以直接問的話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665208" y="2212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先調整這一個帶教動作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578608"/>
            <a:ext cx="1087221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9077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Roger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75688" y="272491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7EEE1"/>
          </a:solidFill>
          <a:ln w="12700">
            <a:solidFill>
              <a:srgbClr val="F7E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75688" y="27249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62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待驗證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075688" y="3035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求快傾向，可能使他在追求速度時犧牲操作準確性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90488" y="277977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「我們一起看這兩次更正，你覺得卡在哪裡？是流程不熟，還是想趕快完成？」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65208" y="2779776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先求對、再求快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3813048"/>
            <a:ext cx="10872216" cy="1078992"/>
          </a:xfrm>
          <a:prstGeom prst="roundRect">
            <a:avLst>
              <a:gd name="adj" fmla="val 8475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1422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Eddy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075688" y="395935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7EEE1"/>
          </a:solidFill>
          <a:ln w="12700">
            <a:solidFill>
              <a:srgbClr val="F7EE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75688" y="395935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62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待驗證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075688" y="4270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「都還好」可能代表她較少主動表達不確定，也可能當下尚未形成明確問題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90488" y="401421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「今天哪一個步驟最有把握？哪一個步驟還想再練一次？」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65208" y="4014216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把「有沒有問題」換成具體問句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5047488"/>
            <a:ext cx="1087221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53766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Eva 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075688" y="5193792"/>
            <a:ext cx="841248" cy="256032"/>
          </a:xfrm>
          <a:prstGeom prst="roundRect">
            <a:avLst>
              <a:gd name="adj" fmla="val 21429"/>
            </a:avLst>
          </a:prstGeom>
          <a:solidFill>
            <a:srgbClr val="F7EEE1"/>
          </a:solidFill>
          <a:ln w="12700">
            <a:solidFill>
              <a:srgbClr val="F7EE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75688" y="51937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62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待驗證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075688" y="5504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猶豫可能與品質要求，以及尚未掌握尖峰任務中的求助方式有關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90488" y="524865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「對於下一次獨立顧尖峰，你最大的顧慮是什麼？」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65208" y="5248656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對齊既有流程與求助點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62636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同時校準主管本人：「您對細節與產出標準把關較嚴，可能更注意『未達標』的訊號，而忽略『正在進步』的軌跡。」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4–14 ／ 主管做什麼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 1 分鐘，但用語要先定義好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紀錄口徑講清楚，下一輪 AI 才不會誤讀；沒有分母的數字會誤導判斷。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55321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50976" y="24871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五個一定要先定義的用語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外部更正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441448" y="2926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新人尚未發現，由他人指出後才更正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4747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自行修正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441448" y="3474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新人先發現，並在他人指出前修正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0233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主動提問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441448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未經詢問，由新人主動提出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45720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被問後回答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441448" y="4572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用具體問句後才說出的內容，不算主動提問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5120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A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未排班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441448" y="5120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沒有觀察機會，不能記為 0 次錯誤或 0 次提問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64808" y="2286000"/>
            <a:ext cx="5065776" cy="3566160"/>
          </a:xfrm>
          <a:prstGeom prst="roundRect">
            <a:avLst>
              <a:gd name="adj" fmla="val 2564"/>
            </a:avLst>
          </a:prstGeom>
          <a:solidFill>
            <a:srgbClr val="F7EEE1"/>
          </a:solidFill>
          <a:ln w="12700">
            <a:solidFill>
              <a:srgbClr val="E3CFA9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57416" y="2487168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為什麼一定要有分母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57416" y="288036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 0 次提問」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57416" y="3191256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53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可能代表他今天根本沒遇到新狀況，不代表退步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57416" y="370332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 0 筆錯誤」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57416" y="4014216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53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可能代表今天訂單單純，不代表已經熟練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757416" y="4526280"/>
            <a:ext cx="4471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「多留時間縮短」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57416" y="4837176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53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可能只是當天等待與未完成事項比較少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57416" y="5376672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6B441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正確寫法：做了幾筆／其中幾筆需更正　·　遇到幾次例外／其中幾次主動問　·　多留幾分鐘／分別用在哪裡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603504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SME 在模擬紀錄時刻意保留了不完美：三人並非全部線性改善，Roger 在忙碌班次再次出錯、Eddy 遇到新流程仍先跟做、Eva H 多留時間一度回升。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／ 成果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天後，判斷收斂了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4592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C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主管沒有得到「誰會留、誰會走」的標籤，而是三條各自不同、而且更窄的問題。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271E33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Roger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2487168" y="24323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的印象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487168" y="26883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E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動作太快，所以容易出錯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190488" y="26334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711696" y="2432304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的判斷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711696" y="2688336"/>
            <a:ext cx="4517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一般流程可以穩定；主要卡在忙碌時的複雜欄位確認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401568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271E33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8408" y="36758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Eddy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487168" y="3547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的印象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487168" y="38039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E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都說沒問題，可能不願意說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749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3547872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的判斷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3803904"/>
            <a:ext cx="4517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一般問句資訊不足；是否提問也取決於有沒有遇到新例外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4517136"/>
            <a:ext cx="10872216" cy="960120"/>
          </a:xfrm>
          <a:prstGeom prst="roundRect">
            <a:avLst>
              <a:gd name="adj" fmla="val 9524"/>
            </a:avLst>
          </a:prstGeom>
          <a:solidFill>
            <a:srgbClr val="271E33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8408" y="47914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Eva H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2487168" y="46634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7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的印象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487168" y="49194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E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不敢承擔尖峰，確認太久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48646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711696" y="4663440"/>
            <a:ext cx="4517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的判斷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711696" y="4919472"/>
            <a:ext cx="4517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一般尖峰已有掌握；剩餘困難在少見複合異動與求助時點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806440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9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沒有用特質替主管下定論，而是讓主管先形成假設、回到現場驗證，再依新事實修正管理方式。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對外邊界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這個案例可以主張什麼，不能主張什麼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10872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先講清楚不能主張的部分，可以主張的部分才會被相信。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5276088" cy="3200400"/>
          </a:xfrm>
          <a:prstGeom prst="roundRect">
            <a:avLst>
              <a:gd name="adj" fmla="val 2857"/>
            </a:avLst>
          </a:prstGeom>
          <a:solidFill>
            <a:srgbClr val="E9F1E9"/>
          </a:solidFill>
          <a:ln w="12700">
            <a:solidFill>
              <a:srgbClr val="C3D8C5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50976" y="248716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B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　可以主張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926080"/>
            <a:ext cx="4690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4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提早辨識新人不同的適應卡點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4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將特質資料轉成主管能直接採取的行動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4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用現場事實修正初始特質推論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4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提升帶教的個人化、針對性與一致性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4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建立有利於新人適應與短期留任的管理條件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4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三位新人、14 天，只需三個決策點的整合提問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4496" y="2286000"/>
            <a:ext cx="5276088" cy="3200400"/>
          </a:xfrm>
          <a:prstGeom prst="roundRect">
            <a:avLst>
              <a:gd name="adj" fmla="val 2857"/>
            </a:avLst>
          </a:prstGeom>
          <a:solidFill>
            <a:srgbClr val="F7E8E7"/>
          </a:solidFill>
          <a:ln w="12700">
            <a:solidFill>
              <a:srgbClr val="DFBDB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47104" y="2487168"/>
            <a:ext cx="4690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　不能主張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47104" y="2926080"/>
            <a:ext cx="46908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Traitty AI 已降低新人離職率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三位新人已成功留任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行為改善由 Traitty AI 單獨造成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Traitty AI 能判定誰可以獨立站櫃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C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特質直接造成錯誤、沉默或多留時間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5715000"/>
            <a:ext cx="10872216" cy="685800"/>
          </a:xfrm>
          <a:prstGeom prst="roundRect">
            <a:avLst>
              <a:gd name="adj" fmla="val 13333"/>
            </a:avLst>
          </a:prstGeom>
          <a:solidFill>
            <a:srgbClr val="FAF8F7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50976" y="5870448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模擬案例證明的是「早期辨識與管理行動」的改善；短期留任率與離職率，必須由真實多門市試點驗證。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6692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業務使用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10–12 分鐘現場演示腳本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10872216" cy="566928"/>
          </a:xfrm>
          <a:prstGeom prst="rect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9019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分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029968" y="1901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場景鋪陳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90288" y="1901952"/>
            <a:ext cx="671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三位新人、同一套訓練、三種訊號。問客戶：如果是您，下一班會怎麼帶？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5237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分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29968" y="25237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產業基準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523744"/>
            <a:ext cx="671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餐飲進入率 4.6%／退出率 5.0%，明確標示為外部市場基準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026664"/>
            <a:ext cx="10872216" cy="566928"/>
          </a:xfrm>
          <a:prstGeom prst="rect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31455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分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31455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現場操作第一輪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145536"/>
            <a:ext cx="671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貼上固定開頭＋Day 3 提問，實際跑出三張表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37673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分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029968" y="3767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個人化證明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3767328"/>
            <a:ext cx="671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指出三人拿到不同的假設、問話與帶教動作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4270248"/>
            <a:ext cx="10872216" cy="566928"/>
          </a:xfrm>
          <a:prstGeom prst="rect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分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029968" y="4389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主管只記 1 分鐘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4389120"/>
            <a:ext cx="671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展示紀錄口徑，特別是「未排班不算 0 次」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50109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分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029968" y="5010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第二／三輪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5010912"/>
            <a:ext cx="671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展示假設被支持、被修正、被縮小的過程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5513832"/>
            <a:ext cx="10872216" cy="566928"/>
          </a:xfrm>
          <a:prstGeom prst="rect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" y="56327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分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029968" y="5632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4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邊界與 CTA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5632704"/>
            <a:ext cx="6711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0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明確說「我們不預測離職，也不判定適任」，再導向真實試點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" y="6172200"/>
            <a:ext cx="10872216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12700">
            <a:solidFill>
              <a:srgbClr val="DED6DB"/>
            </a:solidFill>
            <a:prstDash val="solid"/>
          </a:ln>
          <a:effectLst>
            <a:outerShdw sx="100000" sy="100000" kx="0" ky="0" algn="bl" rotWithShape="0" blurRad="177800" dist="38100" dir="5400000">
              <a:srgbClr val="1B1424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58368" y="617220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i="1" dirty="0">
                <a:solidFill>
                  <a:srgbClr val="7A718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最常被追問：「這和一般生成式 AI 有什麼不同？」→ 一般 AI 只能給一般性的新人帶教建議；Traitty AI 對應的是這位主管與這三位新人，所以三人拿到三套不同的驗證方式。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A4A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10972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29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087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同樣是新人不提問、操作出錯或不敢獨立，</a:t>
            </a:r>
            <a:endParaRPr lang="en-US" sz="3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原因可能完全不同。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1546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29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Traitty AI 幫助主管把模糊印象轉成可驗證的判斷，並在新人問題累積前採取適合的行動。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968496"/>
            <a:ext cx="274320" cy="274320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 2–3 家門市，做為期 30 天的真實試點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4535424"/>
            <a:ext cx="274320" cy="274320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498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 Day 14／30 留任、獨立作業時間、帶教工時、錯誤與重工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5102352"/>
            <a:ext cx="274320" cy="274320"/>
          </a:xfrm>
          <a:prstGeom prst="ellipse">
            <a:avLst/>
          </a:prstGeom>
          <a:solidFill>
            <a:srgbClr val="6A4A9E"/>
          </a:solidFill>
          <a:ln w="12700">
            <a:solidFill>
              <a:srgbClr val="6A4A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0657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0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把「事實—特質—驗證模式」放進門市主管的帶教指引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Traitty AI｜人才決策・團隊互動 Copilot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623620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E9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本案為情境模擬案例：現場紀錄由多領域 SME 依真實餐飲現場條件建立，Traitty AI 的三次回答為實際產品輸出。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04｜新人到職前 14 天</dc:title>
  <dc:subject>PptxGenJS Presentation</dc:subject>
  <dc:creator>Traitty AI</dc:creator>
  <cp:lastModifiedBy>Traitty AI</cp:lastModifiedBy>
  <cp:revision>1</cp:revision>
  <dcterms:created xsi:type="dcterms:W3CDTF">2026-08-31T19:03:10Z</dcterms:created>
  <dcterms:modified xsi:type="dcterms:W3CDTF">2026-08-31T19:03:10Z</dcterms:modified>
</cp:coreProperties>
</file>